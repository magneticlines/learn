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ADCFC"/>
                </a:solidFill>
                <a:latin typeface="Calibri"/>
                <a:ea typeface="微软雅黑"/>
              </a:rPr>
              <a:t>《多传感器数据融合》课程大作业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  <a:ea typeface="微软雅黑"/>
              </a:rPr>
              <a:t>工业设备故障诊断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  <a:ea typeface="微软雅黑"/>
              </a:rPr>
              <a:t>多传感器融合设计与实现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9FC0D4"/>
                </a:solidFill>
                <a:latin typeface="Calibri"/>
                <a:ea typeface="微软雅黑"/>
              </a:rPr>
              <a:t>基于 振动 + 声学 + 红外温度 的滚动轴承故障诊断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A6B8"/>
                </a:solidFill>
                <a:latin typeface="Calibri"/>
                <a:ea typeface="微软雅黑"/>
              </a:rPr>
              <a:t>汇报人：________      指导教师：________      2026 年 6 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" y="2103120"/>
            <a:ext cx="502920" cy="50292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82880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6"/>
                </a:solidFill>
                <a:latin typeface="Calibri"/>
                <a:ea typeface="微软雅黑"/>
              </a:rPr>
              <a:t>研究背景与意义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3429000"/>
            <a:ext cx="502920" cy="50292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5468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6"/>
                </a:solidFill>
                <a:latin typeface="Calibri"/>
                <a:ea typeface="微软雅黑"/>
              </a:rPr>
              <a:t>传感器配置与思路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4754880"/>
            <a:ext cx="502920" cy="50292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48056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6"/>
                </a:solidFill>
                <a:latin typeface="Calibri"/>
                <a:ea typeface="微软雅黑"/>
              </a:rPr>
              <a:t>系统总体框架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82880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48272" y="2103120"/>
            <a:ext cx="502920" cy="50292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182880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6"/>
                </a:solidFill>
                <a:latin typeface="Calibri"/>
                <a:ea typeface="微软雅黑"/>
              </a:rPr>
              <a:t>数据生成与特征提取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315468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48272" y="3429000"/>
            <a:ext cx="502920" cy="50292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15468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6"/>
                </a:solidFill>
                <a:latin typeface="Calibri"/>
                <a:ea typeface="微软雅黑"/>
              </a:rPr>
              <a:t>实验结果与分析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48056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748272" y="4754880"/>
            <a:ext cx="502920" cy="50292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480560"/>
            <a:ext cx="4023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6"/>
                </a:solidFill>
                <a:latin typeface="Calibri"/>
                <a:ea typeface="微软雅黑"/>
              </a:rPr>
              <a:t>结论与创新点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01  研究背景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为什么需要多传感器融合？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2120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B2A36"/>
                </a:solidFill>
                <a:latin typeface="Calibri"/>
                <a:ea typeface="微软雅黑"/>
              </a:rPr>
              <a:t>工业旋转设备的滚动轴承长期运行在高速、重载、变工况环境下，是故障高发部位；故障若不能及时发现，轻则停机停产，重则引发安全事故。</a:t>
            </a:r>
          </a:p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B2A36"/>
                </a:solidFill>
                <a:latin typeface="Calibri"/>
                <a:ea typeface="微软雅黑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B2A36"/>
                </a:solidFill>
                <a:latin typeface="Calibri"/>
                <a:ea typeface="微软雅黑"/>
              </a:rPr>
              <a:t>传统诊断多依赖单一振动传感器，信息维度有限、易受工况与噪声干扰，在复杂场景下难以兼顾准确率与鲁棒性。</a:t>
            </a:r>
          </a:p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B2A36"/>
                </a:solidFill>
                <a:latin typeface="Calibri"/>
                <a:ea typeface="微软雅黑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B2A36"/>
                </a:solidFill>
                <a:latin typeface="Calibri"/>
                <a:ea typeface="微软雅黑"/>
              </a:rPr>
              <a:t>多传感器融合通过整合互补信息，突破单一传感器的局限。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8308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29400" y="2075688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  <a:r>
              <a:rPr sz="1400" b="1" i="0">
                <a:solidFill>
                  <a:srgbClr val="FFFFFF"/>
                </a:solidFill>
                <a:latin typeface="Calibri"/>
                <a:ea typeface="微软雅黑"/>
              </a:rPr>
              <a:t>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892807"/>
            <a:ext cx="39319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对故障类型敏感，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但易受机械噪声干扰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15468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3447288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  <a:r>
              <a:rPr sz="1400" b="1" i="0">
                <a:solidFill>
                  <a:srgbClr val="FFFFFF"/>
                </a:solidFill>
                <a:latin typeface="Calibri"/>
                <a:ea typeface="微软雅黑"/>
              </a:rPr>
              <a:t>声学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264408"/>
            <a:ext cx="39319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便于非接触监测，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但难以分辨故障类型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26280"/>
            <a:ext cx="51206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4818888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  <a:r>
              <a:rPr sz="1400" b="1" i="0">
                <a:solidFill>
                  <a:srgbClr val="FFFFFF"/>
                </a:solidFill>
                <a:latin typeface="Calibri"/>
                <a:ea typeface="微软雅黑"/>
              </a:rPr>
              <a:t>温度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636008"/>
            <a:ext cx="39319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反映整体热状态，</a:t>
            </a:r>
          </a:p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但存在响应滞后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02  传感器配置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三传感器各有所长 · 信息互补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B7C8A"/>
                </a:solidFill>
                <a:latin typeface="Calibri"/>
                <a:ea typeface="微软雅黑"/>
              </a:rPr>
              <a:t>题目 8：基于振动 + 声学 + 红外温度的滚动轴承故障诊断（正常 / 内圈 / 外圈 / 滚动体 四种工况）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5204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42316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832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B2A36"/>
                </a:solidFill>
                <a:latin typeface="Calibri"/>
                <a:ea typeface="微软雅黑"/>
              </a:rPr>
              <a:t>振动传感器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65A82"/>
                </a:solidFill>
                <a:latin typeface="Calibri"/>
                <a:ea typeface="微软雅黑"/>
              </a:rPr>
              <a:t>擅长：故障类型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480560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C8A"/>
                </a:solidFill>
                <a:latin typeface="Calibri"/>
                <a:ea typeface="微软雅黑"/>
              </a:rPr>
              <a:t>时域 RMS/峭度 + 频域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C8A"/>
                </a:solidFill>
                <a:latin typeface="Calibri"/>
                <a:ea typeface="微软雅黑"/>
              </a:rPr>
              <a:t>BPFI/BPFO/BSF 特征频率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35204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6440" y="242316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B2A36"/>
                </a:solidFill>
                <a:latin typeface="Calibri"/>
                <a:ea typeface="微软雅黑"/>
              </a:rPr>
              <a:t>声学麦克风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862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C7293"/>
                </a:solidFill>
                <a:latin typeface="Calibri"/>
                <a:ea typeface="微软雅黑"/>
              </a:rPr>
              <a:t>擅长：有无故障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480560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C8A"/>
                </a:solidFill>
                <a:latin typeface="Calibri"/>
                <a:ea typeface="微软雅黑"/>
              </a:rPr>
              <a:t>频谱熵 / 高频能量占比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C8A"/>
                </a:solidFill>
                <a:latin typeface="Calibri"/>
                <a:ea typeface="微软雅黑"/>
              </a:rPr>
              <a:t>/ 异响频带能量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5204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0" y="2423160"/>
            <a:ext cx="777240" cy="77724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38328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B2A36"/>
                </a:solidFill>
                <a:latin typeface="Calibri"/>
                <a:ea typeface="微软雅黑"/>
              </a:rPr>
              <a:t>红外温度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86200"/>
            <a:ext cx="3246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E1655B"/>
                </a:solidFill>
                <a:latin typeface="Calibri"/>
                <a:ea typeface="微软雅黑"/>
              </a:rPr>
              <a:t>擅长：严重程度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480560"/>
            <a:ext cx="3154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C8A"/>
                </a:solidFill>
                <a:latin typeface="Calibri"/>
                <a:ea typeface="微软雅黑"/>
              </a:rPr>
              <a:t>均值 / 最大温升梯度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C8A"/>
                </a:solidFill>
                <a:latin typeface="Calibri"/>
                <a:ea typeface="微软雅黑"/>
              </a:rPr>
              <a:t>/ 热点数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03  总体框架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系统总体流程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0867" y="274320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>数据采集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307" y="36576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三传感器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并行采集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25115" y="3401568"/>
            <a:ext cx="283464" cy="420624"/>
          </a:xfrm>
          <a:prstGeom prst="rightArrow">
            <a:avLst/>
          </a:prstGeom>
          <a:solidFill>
            <a:srgbClr val="6B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26867" y="274320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>特征提取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8307" y="36576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时域/频域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/温度特征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11115" y="3401568"/>
            <a:ext cx="283464" cy="420624"/>
          </a:xfrm>
          <a:prstGeom prst="rightArrow">
            <a:avLst/>
          </a:prstGeom>
          <a:solidFill>
            <a:srgbClr val="6B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12867" y="274320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E1655B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>特征级融合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4307" y="36576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18 维特征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拼接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97115" y="3401568"/>
            <a:ext cx="283464" cy="420624"/>
          </a:xfrm>
          <a:prstGeom prst="rightArrow">
            <a:avLst/>
          </a:prstGeom>
          <a:solidFill>
            <a:srgbClr val="6B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98867" y="274320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>随机森林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0307" y="36576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集成学习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分类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83115" y="3401568"/>
            <a:ext cx="283464" cy="420624"/>
          </a:xfrm>
          <a:prstGeom prst="rightArrow">
            <a:avLst/>
          </a:prstGeom>
          <a:solidFill>
            <a:srgbClr val="6B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84867" y="274320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>诊断结果</a:t>
            </a:r>
          </a:p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6307" y="3657600"/>
            <a:ext cx="1783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四工况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  <a:ea typeface="微软雅黑"/>
              </a:rPr>
              <a:t>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7C8A"/>
                </a:solidFill>
                <a:latin typeface="Calibri"/>
                <a:ea typeface="微软雅黑"/>
              </a:rPr>
              <a:t>三类传感器并行采集 → 各自特征提取 → 拼接为统一特征向量 → 随机森林输出诊断结果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04  数据生成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多传感器数据生成（机理模拟）</a:t>
            </a:r>
          </a:p>
        </p:txBody>
      </p:sp>
      <p:pic>
        <p:nvPicPr>
          <p:cNvPr id="4" name="Picture 3" descr="fig1_vibration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178040" cy="3904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920240"/>
            <a:ext cx="384048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无真实传感器，按物理机理模拟生成：</a:t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• 振动：转频谐波 + 故障特征频率冲击</a:t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   + 包络谱线 + 噪声</a:t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• 声学：声辐射 + 故障异响（各类型相近）</a:t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   + 环境噪声</a:t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• 温度：一阶温升稳态 + 故障热点</a:t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4 工况 × 200 = 800 样本，</a:t>
            </a:r>
          </a:p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A36"/>
                </a:solidFill>
                <a:latin typeface="Calibri"/>
                <a:ea typeface="微软雅黑"/>
              </a:rPr>
              <a:t>三传感器可分性各有侧重且存在重叠。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04  特征提取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18 维特征体系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971800" cy="64008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微软雅黑"/>
              </a:rPr>
              <a:t>振动 (9维)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" y="306324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时域：RMS、峭度、峰值因子、标准差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频域：BPFI/BPFO/BSF 频带能量、频谱重心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09160" y="2103120"/>
            <a:ext cx="2971800" cy="64008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微软雅黑"/>
              </a:rPr>
              <a:t>声学 (4维)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6324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RMS、频谱熵、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高频能量占比、异响频带能量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82880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2103120"/>
            <a:ext cx="2971800" cy="640080"/>
          </a:xfrm>
          <a:prstGeom prst="roundRect">
            <a:avLst>
              <a:gd name="adj" fmla="val 6000"/>
            </a:avLst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  <a:ea typeface="微软雅黑"/>
              </a:rPr>
              <a:t>温度 (5维)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06324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均值、最大值、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B2A36"/>
                </a:solidFill>
                <a:latin typeface="Calibri"/>
                <a:ea typeface="微软雅黑"/>
              </a:rPr>
              <a:t>最大温升梯度、总温升、热点数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04  融合方法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特征级融合 + 随机森林分类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振动特征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声学特征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E1655B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温度特征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6517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1B2A36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18 维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融合特征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651760"/>
            <a:ext cx="2286000" cy="109728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随机森林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200 棵树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651760"/>
            <a:ext cx="1737360" cy="1097280"/>
          </a:xfrm>
          <a:prstGeom prst="roundRect">
            <a:avLst>
              <a:gd name="adj" fmla="val 6000"/>
            </a:avLst>
          </a:prstGeom>
          <a:solidFill>
            <a:srgbClr val="E1655B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四工况</a:t>
            </a:r>
          </a:p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  <a:ea typeface="微软雅黑"/>
              </a:rPr>
              <a:t>诊断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3063240"/>
            <a:ext cx="731520" cy="365760"/>
          </a:xfrm>
          <a:prstGeom prst="rightArrow">
            <a:avLst/>
          </a:prstGeom>
          <a:solidFill>
            <a:srgbClr val="6B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6446520" y="3063240"/>
            <a:ext cx="640080" cy="365760"/>
          </a:xfrm>
          <a:prstGeom prst="rightArrow">
            <a:avLst/>
          </a:prstGeom>
          <a:solidFill>
            <a:srgbClr val="6B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464040" y="3063240"/>
            <a:ext cx="548640" cy="365760"/>
          </a:xfrm>
          <a:prstGeom prst="rightArrow">
            <a:avLst/>
          </a:prstGeom>
          <a:solidFill>
            <a:srgbClr val="6B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B7C8A"/>
                </a:solidFill>
                <a:latin typeface="Calibri"/>
                <a:ea typeface="微软雅黑"/>
              </a:rPr>
              <a:t>特征级融合：保留各传感器细节信息，在信息保留与实现复杂度之间取得平衡。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05  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融合显著优于任一单传感器</a:t>
            </a:r>
          </a:p>
        </p:txBody>
      </p:sp>
      <p:pic>
        <p:nvPicPr>
          <p:cNvPr id="4" name="Picture 3" descr="fig4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6035040" cy="37408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0" y="173736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E1655B"/>
                </a:solidFill>
                <a:latin typeface="Cambria"/>
                <a:ea typeface="微软雅黑"/>
              </a:rPr>
              <a:t>94.2%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30632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6"/>
                </a:solidFill>
                <a:latin typeface="Calibri"/>
                <a:ea typeface="微软雅黑"/>
              </a:rPr>
              <a:t>三传感器融合准确率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3749039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C8A"/>
                </a:solidFill>
                <a:latin typeface="Calibri"/>
                <a:ea typeface="微软雅黑"/>
              </a:rPr>
              <a:t>仅振动：88.3%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C8A"/>
                </a:solidFill>
                <a:latin typeface="Calibri"/>
                <a:ea typeface="微软雅黑"/>
              </a:rPr>
              <a:t>仅声学：63.3%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B7C8A"/>
                </a:solidFill>
                <a:latin typeface="Calibri"/>
                <a:ea typeface="微软雅黑"/>
              </a:rPr>
              <a:t>仅温度：59.6%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54864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C7293"/>
                </a:solidFill>
                <a:latin typeface="Calibri"/>
                <a:ea typeface="微软雅黑"/>
              </a:rPr>
              <a:t>较最佳单传感器  ▲ +5.8 个百分点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  <a:ea typeface="微软雅黑"/>
              </a:rPr>
              <a:t>05  结果分析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6"/>
                </a:solidFill>
                <a:latin typeface="Cambria"/>
                <a:ea typeface="微软雅黑"/>
              </a:rPr>
              <a:t>混淆矩阵 &amp; 特征重要性</a:t>
            </a:r>
          </a:p>
        </p:txBody>
      </p:sp>
      <p:pic>
        <p:nvPicPr>
          <p:cNvPr id="4" name="Picture 3" descr="fig5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4355646" cy="4343400"/>
          </a:xfrm>
          <a:prstGeom prst="rect">
            <a:avLst/>
          </a:prstGeom>
        </p:spPr>
      </p:pic>
      <p:pic>
        <p:nvPicPr>
          <p:cNvPr id="5" name="Picture 4" descr="fig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5486400" cy="40959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8A"/>
                </a:solidFill>
                <a:latin typeface="Calibri"/>
                <a:ea typeface="微软雅黑"/>
              </a:rPr>
              <a:t>融合后各类别对角线占比显著提高，误判明显减少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8A"/>
                </a:solidFill>
                <a:latin typeface="Calibri"/>
                <a:ea typeface="微软雅黑"/>
              </a:rPr>
              <a:t>三类传感器特征均位居重要性前列，互补贡献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9FC0D4"/>
                </a:solidFill>
                <a:latin typeface="Calibri"/>
                <a:ea typeface="微软雅黑"/>
              </a:rPr>
              <a:t>06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  <a:ea typeface="微软雅黑"/>
              </a:rPr>
              <a:t>结论与创新点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19072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6EEF4"/>
                </a:solidFill>
                <a:latin typeface="Calibri"/>
                <a:ea typeface="微软雅黑"/>
              </a:rPr>
              <a:t>构建振动—声学—红外温度三类异构传感器统一的特征级融合诊断框架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33472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6EEF4"/>
                </a:solidFill>
                <a:latin typeface="Calibri"/>
                <a:ea typeface="微软雅黑"/>
              </a:rPr>
              <a:t>设计体现“类型—有无—严重度”互补性的 18 维特征体系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E1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  <a:ea typeface="微软雅黑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47872"/>
            <a:ext cx="7315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6EEF4"/>
                </a:solidFill>
                <a:latin typeface="Calibri"/>
                <a:ea typeface="微软雅黑"/>
              </a:rPr>
              <a:t>从准确率、混淆矩阵、特征重要性三角度量化验证融合有效性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2468880" cy="265176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>
            <a:outerShdw blurRad="90000" dist="38100" dir="5400000" rotWithShape="0">
              <a:srgbClr val="1B2A36">
                <a:alpha val="2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微软雅黑"/>
              </a:rPr>
              <a:t>94.2%</a:t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微软雅黑"/>
              </a:rPr>
              <a:t>融合准确率</a:t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微软雅黑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  <a:ea typeface="微软雅黑"/>
              </a:rPr>
              <a:t>▲ +5.8 pts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  <a:ea typeface="微软雅黑"/>
              </a:rPr>
              <a:t>谢 谢 聆 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1">
                <a:solidFill>
                  <a:srgbClr val="9FC0D4"/>
                </a:solidFill>
                <a:latin typeface="Calibri"/>
                <a:ea typeface="微软雅黑"/>
              </a:rPr>
              <a:t>敬请各位老师批评指正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